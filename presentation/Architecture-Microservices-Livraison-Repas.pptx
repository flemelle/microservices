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914400"/>
            <a:ext cx="4114800" cy="41148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274320"/>
            <a:ext cx="2377440" cy="2377440"/>
          </a:xfrm>
          <a:prstGeom prst="ellipse">
            <a:avLst/>
          </a:prstGeom>
          <a:solidFill>
            <a:srgbClr val="1C7293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4754880"/>
            <a:ext cx="3291840" cy="329184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65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F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&amp; PROTOTYPE — ARCHITECTURE LOGICIELLE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23317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Microservices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94360" y="32461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CADC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Plateforme de Livraison de Repas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41148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4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Conception, documentation et prototype d'une architecture microservices type Uber Eats / Deliveroo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5806440"/>
            <a:ext cx="109728" cy="109728"/>
          </a:xfrm>
          <a:prstGeom prst="ellipse">
            <a:avLst/>
          </a:prstGeom>
          <a:solidFill>
            <a:srgbClr val="3FA7B3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565099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331720" y="5806440"/>
            <a:ext cx="109728" cy="109728"/>
          </a:xfrm>
          <a:prstGeom prst="ellipse">
            <a:avLst/>
          </a:prstGeom>
          <a:solidFill>
            <a:srgbClr val="3FA7B3"/>
          </a:solidFill>
          <a:ln/>
        </p:spPr>
      </p:sp>
      <p:sp>
        <p:nvSpPr>
          <p:cNvPr id="12" name="Text 10"/>
          <p:cNvSpPr/>
          <p:nvPr/>
        </p:nvSpPr>
        <p:spPr>
          <a:xfrm>
            <a:off x="2514600" y="565099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023360" y="5806440"/>
            <a:ext cx="109728" cy="109728"/>
          </a:xfrm>
          <a:prstGeom prst="ellipse">
            <a:avLst/>
          </a:prstGeom>
          <a:solidFill>
            <a:srgbClr val="3FA7B3"/>
          </a:solidFill>
          <a:ln/>
        </p:spPr>
      </p:sp>
      <p:sp>
        <p:nvSpPr>
          <p:cNvPr id="14" name="Text 12"/>
          <p:cNvSpPr/>
          <p:nvPr/>
        </p:nvSpPr>
        <p:spPr>
          <a:xfrm>
            <a:off x="4206240" y="565099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715000" y="5806440"/>
            <a:ext cx="109728" cy="109728"/>
          </a:xfrm>
          <a:prstGeom prst="ellipse">
            <a:avLst/>
          </a:prstGeom>
          <a:solidFill>
            <a:srgbClr val="3FA7B3"/>
          </a:solidFill>
          <a:ln/>
        </p:spPr>
      </p:sp>
      <p:sp>
        <p:nvSpPr>
          <p:cNvPr id="16" name="Text 14"/>
          <p:cNvSpPr/>
          <p:nvPr/>
        </p:nvSpPr>
        <p:spPr>
          <a:xfrm>
            <a:off x="5897880" y="565099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406640" y="5806440"/>
            <a:ext cx="109728" cy="109728"/>
          </a:xfrm>
          <a:prstGeom prst="ellipse">
            <a:avLst/>
          </a:prstGeom>
          <a:solidFill>
            <a:srgbClr val="3FA7B3"/>
          </a:solidFill>
          <a:ln/>
        </p:spPr>
      </p:sp>
      <p:sp>
        <p:nvSpPr>
          <p:cNvPr id="18" name="Text 16"/>
          <p:cNvSpPr/>
          <p:nvPr/>
        </p:nvSpPr>
        <p:spPr>
          <a:xfrm>
            <a:off x="7589520" y="565099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Livraison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098280" y="5806440"/>
            <a:ext cx="109728" cy="109728"/>
          </a:xfrm>
          <a:prstGeom prst="ellipse">
            <a:avLst/>
          </a:prstGeom>
          <a:solidFill>
            <a:srgbClr val="3FA7B3"/>
          </a:solidFill>
          <a:ln/>
        </p:spPr>
      </p:sp>
      <p:sp>
        <p:nvSpPr>
          <p:cNvPr id="20" name="Text 18"/>
          <p:cNvSpPr/>
          <p:nvPr/>
        </p:nvSpPr>
        <p:spPr>
          <a:xfrm>
            <a:off x="9281160" y="565099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PRÉSENTATION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Sommaire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530352"/>
          </a:xfrm>
          <a:prstGeom prst="roundRect">
            <a:avLst>
              <a:gd name="adj" fmla="val 13793"/>
            </a:avLst>
          </a:prstGeom>
          <a:solidFill>
            <a:srgbClr val="F4F7F9"/>
          </a:solidFill>
          <a:ln/>
        </p:spPr>
      </p:sp>
      <p:sp>
        <p:nvSpPr>
          <p:cNvPr id="5" name="Shape 3"/>
          <p:cNvSpPr/>
          <p:nvPr/>
        </p:nvSpPr>
        <p:spPr>
          <a:xfrm>
            <a:off x="694944" y="1682496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694944" y="16824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88720" y="1600200"/>
            <a:ext cx="4572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métier et objectifs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258568"/>
            <a:ext cx="5349240" cy="530352"/>
          </a:xfrm>
          <a:prstGeom prst="roundRect">
            <a:avLst>
              <a:gd name="adj" fmla="val 13793"/>
            </a:avLst>
          </a:prstGeom>
          <a:solidFill>
            <a:srgbClr val="F4F7F9"/>
          </a:solidFill>
          <a:ln/>
        </p:spPr>
      </p:sp>
      <p:sp>
        <p:nvSpPr>
          <p:cNvPr id="9" name="Shape 7"/>
          <p:cNvSpPr/>
          <p:nvPr/>
        </p:nvSpPr>
        <p:spPr>
          <a:xfrm>
            <a:off x="694944" y="2340864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694944" y="23408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88720" y="2258568"/>
            <a:ext cx="4572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Découpage en microservices (DDD)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2916936"/>
            <a:ext cx="5349240" cy="530352"/>
          </a:xfrm>
          <a:prstGeom prst="roundRect">
            <a:avLst>
              <a:gd name="adj" fmla="val 13793"/>
            </a:avLst>
          </a:prstGeom>
          <a:solidFill>
            <a:srgbClr val="F4F7F9"/>
          </a:solidFill>
          <a:ln/>
        </p:spPr>
      </p:sp>
      <p:sp>
        <p:nvSpPr>
          <p:cNvPr id="13" name="Shape 11"/>
          <p:cNvSpPr/>
          <p:nvPr/>
        </p:nvSpPr>
        <p:spPr>
          <a:xfrm>
            <a:off x="694944" y="2999232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694944" y="29992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88720" y="2916936"/>
            <a:ext cx="4572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inter-services (REST / Kafka)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3575304"/>
            <a:ext cx="5349240" cy="530352"/>
          </a:xfrm>
          <a:prstGeom prst="roundRect">
            <a:avLst>
              <a:gd name="adj" fmla="val 13793"/>
            </a:avLst>
          </a:prstGeom>
          <a:solidFill>
            <a:srgbClr val="F4F7F9"/>
          </a:solidFill>
          <a:ln/>
        </p:spPr>
      </p:sp>
      <p:sp>
        <p:nvSpPr>
          <p:cNvPr id="17" name="Shape 15"/>
          <p:cNvSpPr/>
          <p:nvPr/>
        </p:nvSpPr>
        <p:spPr>
          <a:xfrm>
            <a:off x="694944" y="365760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694944" y="3657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88720" y="3575304"/>
            <a:ext cx="4572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SAGA « Passage de commande » (orchestration)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355080" y="1600200"/>
            <a:ext cx="5349240" cy="530352"/>
          </a:xfrm>
          <a:prstGeom prst="roundRect">
            <a:avLst>
              <a:gd name="adj" fmla="val 13793"/>
            </a:avLst>
          </a:prstGeom>
          <a:solidFill>
            <a:srgbClr val="F4F7F9"/>
          </a:solidFill>
          <a:ln/>
        </p:spPr>
      </p:sp>
      <p:sp>
        <p:nvSpPr>
          <p:cNvPr id="21" name="Shape 19"/>
          <p:cNvSpPr/>
          <p:nvPr/>
        </p:nvSpPr>
        <p:spPr>
          <a:xfrm>
            <a:off x="6501384" y="1682496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6501384" y="16824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995160" y="1600200"/>
            <a:ext cx="4572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Résilience : Circuit Breaker (Polly)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355080" y="2258568"/>
            <a:ext cx="5349240" cy="530352"/>
          </a:xfrm>
          <a:prstGeom prst="roundRect">
            <a:avLst>
              <a:gd name="adj" fmla="val 13793"/>
            </a:avLst>
          </a:prstGeom>
          <a:solidFill>
            <a:srgbClr val="F4F7F9"/>
          </a:solidFill>
          <a:ln/>
        </p:spPr>
      </p:sp>
      <p:sp>
        <p:nvSpPr>
          <p:cNvPr id="25" name="Shape 23"/>
          <p:cNvSpPr/>
          <p:nvPr/>
        </p:nvSpPr>
        <p:spPr>
          <a:xfrm>
            <a:off x="6501384" y="2340864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6501384" y="23408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995160" y="2258568"/>
            <a:ext cx="4572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CQRS sur le catalogue (bonus)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355080" y="2916936"/>
            <a:ext cx="5349240" cy="530352"/>
          </a:xfrm>
          <a:prstGeom prst="roundRect">
            <a:avLst>
              <a:gd name="adj" fmla="val 13793"/>
            </a:avLst>
          </a:prstGeom>
          <a:solidFill>
            <a:srgbClr val="F4F7F9"/>
          </a:solidFill>
          <a:ln/>
        </p:spPr>
      </p:sp>
      <p:sp>
        <p:nvSpPr>
          <p:cNvPr id="29" name="Shape 27"/>
          <p:cNvSpPr/>
          <p:nvPr/>
        </p:nvSpPr>
        <p:spPr>
          <a:xfrm>
            <a:off x="6501384" y="2999232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0" name="Text 28"/>
          <p:cNvSpPr/>
          <p:nvPr/>
        </p:nvSpPr>
        <p:spPr>
          <a:xfrm>
            <a:off x="6501384" y="29992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995160" y="2916936"/>
            <a:ext cx="4572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&amp; démonstration du prototype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Microservices — Plateforme de Livraison de Repas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CONTEXTE MÉTIER ET OBJECTIFS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 métier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4F7F9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659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2990088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Parcourent les restaurants, commandent, paient, suivent la livraison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169164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4F7F9"/>
          </a:solidFill>
          <a:ln/>
        </p:spPr>
      </p:sp>
      <p:sp>
        <p:nvSpPr>
          <p:cNvPr id="10" name="Shape 8"/>
          <p:cNvSpPr/>
          <p:nvPr/>
        </p:nvSpPr>
        <p:spPr>
          <a:xfrm>
            <a:off x="4663440" y="19659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63440" y="260604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Restaurants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63440" y="2990088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Gèrent menus, horaires, acceptent / refusent les commandes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0" y="169164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4F7F9"/>
          </a:solidFill>
          <a:ln/>
        </p:spPr>
      </p:sp>
      <p:sp>
        <p:nvSpPr>
          <p:cNvPr id="15" name="Shape 13"/>
          <p:cNvSpPr/>
          <p:nvPr/>
        </p:nvSpPr>
        <p:spPr>
          <a:xfrm>
            <a:off x="8503920" y="19659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850392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503920" y="260604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Livreurs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503920" y="2990088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Déclarent leurs disponibilités, acceptent des livraisons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160520"/>
            <a:ext cx="11201400" cy="1691640"/>
          </a:xfrm>
          <a:prstGeom prst="roundRect">
            <a:avLst>
              <a:gd name="adj" fmla="val 5405"/>
            </a:avLst>
          </a:prstGeom>
          <a:solidFill>
            <a:srgbClr val="21295C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37083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F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DU PROJET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4709160"/>
            <a:ext cx="97840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Concevoir l'architecture et </a:t>
            </a:r>
            <a:pPr indent="0" marL="0">
              <a:lnSpc>
                <a:spcPct val="120000"/>
              </a:lnSpc>
              <a:buNone/>
            </a:pPr>
            <a:r>
              <a:rPr lang="en-US" sz="1550" b="1" dirty="0">
                <a:solidFill>
                  <a:srgbClr val="3F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prouver par un prototype</a:t>
            </a:r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 les choix (communication, SAGA, résilience) fonctionnent — pas livrer un produit complet.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Microservices — Plateforme de Livraison de Repas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DÉCOUPAGE EN MICROSERVICES (DDD)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Bounded Contexts (DDD)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4297680"/>
        </p:xfrm>
        <a:graphic>
          <a:graphicData uri="http://schemas.openxmlformats.org/drawingml/2006/table">
            <a:tbl>
              <a:tblPr/>
              <a:tblGrid>
                <a:gridCol w="4297680"/>
                <a:gridCol w="3657600"/>
                <a:gridCol w="310896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Bounded Context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Microservice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Gestion Restaurant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Cœur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restaurant-service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5B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Catalogue &amp; Recherche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5B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 (dérivé, CQRS)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catalog-service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Gestion Commande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Cœur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order-service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5B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Paiement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5B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Générique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payment-service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Gestion Livreur / Livraison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Cœur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delivery-service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5B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5B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Générique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notification-service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5B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/ Évaluation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5B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conçus, non codés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9893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Cœur = logique métier différenciante  ·  Générique = fonction standard, réutilisable  ·  Support = utilitaire ou dérivé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Microservices — Plateforme de Livraison de Repas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DÉCOUPAGE EN MICROSERVICES (DDD)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Pourquoi séparer Restaurant et Catalogue 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212080" cy="2286000"/>
          </a:xfrm>
          <a:prstGeom prst="roundRect">
            <a:avLst>
              <a:gd name="adj" fmla="val 4000"/>
            </a:avLst>
          </a:prstGeom>
          <a:solidFill>
            <a:srgbClr val="F4F7F9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29968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2996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ÉCRITURE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25146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restaurant-service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8680" y="301752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Transactionnelle, faible volumétrie — CRUD administré par le restaurateur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0" y="1737360"/>
            <a:ext cx="5212080" cy="2286000"/>
          </a:xfrm>
          <a:prstGeom prst="roundRect">
            <a:avLst>
              <a:gd name="adj" fmla="val 4000"/>
            </a:avLst>
          </a:prstGeom>
          <a:solidFill>
            <a:srgbClr val="F4F7F9"/>
          </a:solidFill>
          <a:ln/>
        </p:spPr>
      </p:sp>
      <p:sp>
        <p:nvSpPr>
          <p:cNvPr id="10" name="Shape 8"/>
          <p:cNvSpPr/>
          <p:nvPr/>
        </p:nvSpPr>
        <p:spPr>
          <a:xfrm>
            <a:off x="6720840" y="2029968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720840" y="202996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720840" y="25146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catalog-service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720840" y="301752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Haute fréquence — recherche / navigation client, modèle dénormalisé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829300" y="2628900"/>
            <a:ext cx="502920" cy="50292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5" name="Text 13"/>
          <p:cNvSpPr/>
          <p:nvPr/>
        </p:nvSpPr>
        <p:spPr>
          <a:xfrm>
            <a:off x="5829300" y="26289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≠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48640" y="43434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Profils non-fonctionnels trop différents pour un seul service : c'est notre terrain pour le pattern </a:t>
            </a:r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CQRS</a:t>
            </a:r>
            <a:pPr indent="0" marL="0">
              <a:buNone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(voir plus loin).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50749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Critères de découpage : autonomie transactionnelle, couplage minimal, vitesse d'évolution homogène — détaillés dans docs/architecture.md §2 et ADR-0001.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Microservices — Plateforme de Livraison de Repas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COMMUNICATION INTER-SERVICES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 synchrone ou Kafka asynchrone ?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4389120"/>
        </p:xfrm>
        <a:graphic>
          <a:graphicData uri="http://schemas.openxmlformats.org/drawingml/2006/table">
            <a:tbl>
              <a:tblPr/>
              <a:tblGrid>
                <a:gridCol w="4206240"/>
                <a:gridCol w="2377440"/>
                <a:gridCol w="448056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Scénario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Pourquoi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Lecture / consultation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 synchrone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Réponse immédiate attendue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 menu / prix (order → restaurant)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 + résilience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Réponse immédiate mais ne doit jamais bloquer en cascade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Paiement, assignation livreur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Kafka (commandes)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Latence variable, ne doit pas bloquer l'appelant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Propagation d'état (menu → catalogue)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Kafka (événements)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Cohérence éventuelle acceptable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Kafka (événements)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Fan-out, ne doit jamais impacter le flux métier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Microservices — Plateforme de Livraison de Repas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COMMUNICATION INTER-SERVICES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Topics Kafka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512064"/>
          </a:xfrm>
          <a:prstGeom prst="roundRect">
            <a:avLst>
              <a:gd name="adj" fmla="val 10714"/>
            </a:avLst>
          </a:prstGeom>
          <a:solidFill>
            <a:srgbClr val="F4F7F9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45920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restaurant.events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0" y="1901952"/>
            <a:ext cx="45720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5166360" y="1645920"/>
            <a:ext cx="6309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catalog-service (projection CQRS)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249424"/>
            <a:ext cx="11064240" cy="512064"/>
          </a:xfrm>
          <a:prstGeom prst="roundRect">
            <a:avLst>
              <a:gd name="adj" fmla="val 10714"/>
            </a:avLst>
          </a:prstGeom>
          <a:solidFill>
            <a:srgbClr val="F4F7F9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249424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payment.commands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0" y="2505456"/>
            <a:ext cx="45720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5166360" y="2249424"/>
            <a:ext cx="6309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payment-service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852928"/>
            <a:ext cx="11064240" cy="512064"/>
          </a:xfrm>
          <a:prstGeom prst="roundRect">
            <a:avLst>
              <a:gd name="adj" fmla="val 10714"/>
            </a:avLst>
          </a:prstGeom>
          <a:solidFill>
            <a:srgbClr val="F4F7F9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852928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payment.events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0" y="3108960"/>
            <a:ext cx="45720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5166360" y="2852928"/>
            <a:ext cx="6309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order-service, notification-service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456432"/>
            <a:ext cx="11064240" cy="512064"/>
          </a:xfrm>
          <a:prstGeom prst="roundRect">
            <a:avLst>
              <a:gd name="adj" fmla="val 10714"/>
            </a:avLst>
          </a:prstGeom>
          <a:solidFill>
            <a:srgbClr val="F4F7F9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456432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delivery.commands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0" y="3712464"/>
            <a:ext cx="45720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5166360" y="3456432"/>
            <a:ext cx="6309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delivery-service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059936"/>
            <a:ext cx="11064240" cy="512064"/>
          </a:xfrm>
          <a:prstGeom prst="roundRect">
            <a:avLst>
              <a:gd name="adj" fmla="val 10714"/>
            </a:avLst>
          </a:prstGeom>
          <a:solidFill>
            <a:srgbClr val="F4F7F9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059936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delivery.events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0" y="4315968"/>
            <a:ext cx="45720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5166360" y="4059936"/>
            <a:ext cx="6309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order-service, notification-service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4663440"/>
            <a:ext cx="11064240" cy="512064"/>
          </a:xfrm>
          <a:prstGeom prst="roundRect">
            <a:avLst>
              <a:gd name="adj" fmla="val 10714"/>
            </a:avLst>
          </a:prstGeom>
          <a:solidFill>
            <a:srgbClr val="F4F7F9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4663440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order.events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0" y="4919472"/>
            <a:ext cx="45720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5166360" y="4663440"/>
            <a:ext cx="6309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notification-service, restaurant-service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5358384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5239512"/>
            <a:ext cx="10789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Partitionnement par orderId / restaurantId (ordre garanti par agrégat)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5669280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5550408"/>
            <a:ext cx="10789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consumer group dédié par service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5980176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3" name="Text 31"/>
          <p:cNvSpPr/>
          <p:nvPr/>
        </p:nvSpPr>
        <p:spPr>
          <a:xfrm>
            <a:off x="777240" y="5861304"/>
            <a:ext cx="10789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Garantie at-least-once (acks=all) + consommateurs idempotents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Microservices — Plateforme de Livraison de Repas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LA SAGA « PASSAGE DE COMMANDE »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SAGA en orchestration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passage de commande traverse </a:t>
            </a:r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services</a:t>
            </a:r>
            <a:pPr indent="0" marL="0">
              <a:buNone/>
            </a:pPr>
            <a:r>
              <a:rPr lang="en-US" sz="16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sans BDD partagée → pas de transaction ACID distribuée possible.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21295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37744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ADC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Choix : </a:t>
            </a:r>
            <a:pPr indent="0" marL="0">
              <a:buNone/>
            </a:pPr>
            <a:r>
              <a:rPr lang="en-US" sz="1900" b="1" dirty="0">
                <a:solidFill>
                  <a:srgbClr val="3FA7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SAGA en orchestration</a:t>
            </a:r>
            <a:pPr indent="0" marL="0">
              <a:buNone/>
            </a:pPr>
            <a:r>
              <a:rPr lang="en-US" sz="1900" dirty="0">
                <a:solidFill>
                  <a:srgbClr val="CADC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portée par order-service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48640" y="3502152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4290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endroit centralise la logique du processus (traçable, testable)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4005072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9319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order-service envoie des commandes (Kafka), réagit aux événements de résultat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461772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F4F7F9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CHORÉGRAPHIE ÉCARTÉE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22960" y="5029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ce processus, la logique diffusée entre services serait plus difficile à tracer pour un flux aussi critique (paiement + logistique).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Microservices — Plateforme de Livraison de Repas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LA SAGA « PASSAGE DE COMMANDE »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SAGA — déroulé nominal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691640"/>
            <a:ext cx="2011680" cy="411480"/>
          </a:xfrm>
          <a:prstGeom prst="roundRect">
            <a:avLst>
              <a:gd name="adj" fmla="val 15556"/>
            </a:avLst>
          </a:prstGeom>
          <a:solidFill>
            <a:srgbClr val="21295C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6916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order-service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280160" y="2103120"/>
            <a:ext cx="0" cy="1874520"/>
          </a:xfrm>
          <a:prstGeom prst="line">
            <a:avLst/>
          </a:prstGeom>
          <a:noFill/>
          <a:ln w="12700">
            <a:solidFill>
              <a:srgbClr val="C7D6DE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4937760" y="1691640"/>
            <a:ext cx="2011680" cy="411480"/>
          </a:xfrm>
          <a:prstGeom prst="roundRect">
            <a:avLst>
              <a:gd name="adj" fmla="val 15556"/>
            </a:avLst>
          </a:prstGeom>
          <a:solidFill>
            <a:srgbClr val="21295C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16916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payment-service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943600" y="2103120"/>
            <a:ext cx="0" cy="1874520"/>
          </a:xfrm>
          <a:prstGeom prst="line">
            <a:avLst/>
          </a:prstGeom>
          <a:noFill/>
          <a:ln w="12700">
            <a:solidFill>
              <a:srgbClr val="C7D6DE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9601200" y="1691640"/>
            <a:ext cx="2011680" cy="411480"/>
          </a:xfrm>
          <a:prstGeom prst="roundRect">
            <a:avLst>
              <a:gd name="adj" fmla="val 15556"/>
            </a:avLst>
          </a:prstGeom>
          <a:solidFill>
            <a:srgbClr val="21295C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0" y="16916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delivery-service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0607040" y="2103120"/>
            <a:ext cx="0" cy="1874520"/>
          </a:xfrm>
          <a:prstGeom prst="line">
            <a:avLst/>
          </a:prstGeom>
          <a:noFill/>
          <a:ln w="12700">
            <a:solidFill>
              <a:srgbClr val="C7D6DE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1280160" y="2331720"/>
            <a:ext cx="4663440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1280160" y="2039112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ProcessPayment (Kafka)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 flipH="1">
            <a:off x="1280160" y="2788920"/>
            <a:ext cx="466344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dash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1280160" y="2496312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PaymentSucceeded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280160" y="3246120"/>
            <a:ext cx="9326880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1280160" y="2953512"/>
            <a:ext cx="9326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AssignCourier (Kafka)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 flipH="1">
            <a:off x="1280160" y="3703320"/>
            <a:ext cx="93268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dash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1280160" y="3410712"/>
            <a:ext cx="9326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CourierAssigned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74320" y="4023360"/>
            <a:ext cx="2011680" cy="365760"/>
          </a:xfrm>
          <a:prstGeom prst="roundRect">
            <a:avLst>
              <a:gd name="adj" fmla="val 15000"/>
            </a:avLst>
          </a:prstGeom>
          <a:solidFill>
            <a:srgbClr val="3FA7B3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40233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Order.status = CONFIRMED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5440680"/>
            <a:ext cx="1298448" cy="566928"/>
          </a:xfrm>
          <a:prstGeom prst="roundRect">
            <a:avLst>
              <a:gd name="adj" fmla="val 12903"/>
            </a:avLst>
          </a:prstGeom>
          <a:solidFill>
            <a:srgbClr val="EAF1F4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5440680"/>
            <a:ext cx="12984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847088" y="5724144"/>
            <a:ext cx="91440" cy="0"/>
          </a:xfrm>
          <a:prstGeom prst="line">
            <a:avLst/>
          </a:prstGeom>
          <a:noFill/>
          <a:ln w="15240">
            <a:solidFill>
              <a:srgbClr val="5B6B79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1938528" y="5440680"/>
            <a:ext cx="1298448" cy="566928"/>
          </a:xfrm>
          <a:prstGeom prst="roundRect">
            <a:avLst>
              <a:gd name="adj" fmla="val 12903"/>
            </a:avLst>
          </a:prstGeom>
          <a:solidFill>
            <a:srgbClr val="EAF1F4"/>
          </a:solidFill>
          <a:ln/>
        </p:spPr>
      </p:sp>
      <p:sp>
        <p:nvSpPr>
          <p:cNvPr id="27" name="Text 25"/>
          <p:cNvSpPr/>
          <p:nvPr/>
        </p:nvSpPr>
        <p:spPr>
          <a:xfrm>
            <a:off x="1938528" y="5440680"/>
            <a:ext cx="12984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AWAITING_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36976" y="5724144"/>
            <a:ext cx="91440" cy="0"/>
          </a:xfrm>
          <a:prstGeom prst="line">
            <a:avLst/>
          </a:prstGeom>
          <a:noFill/>
          <a:ln w="15240">
            <a:solidFill>
              <a:srgbClr val="5B6B79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3328416" y="5440680"/>
            <a:ext cx="1298448" cy="566928"/>
          </a:xfrm>
          <a:prstGeom prst="roundRect">
            <a:avLst>
              <a:gd name="adj" fmla="val 12903"/>
            </a:avLst>
          </a:prstGeom>
          <a:solidFill>
            <a:srgbClr val="EAF1F4"/>
          </a:solidFill>
          <a:ln/>
        </p:spPr>
      </p:sp>
      <p:sp>
        <p:nvSpPr>
          <p:cNvPr id="30" name="Text 28"/>
          <p:cNvSpPr/>
          <p:nvPr/>
        </p:nvSpPr>
        <p:spPr>
          <a:xfrm>
            <a:off x="3328416" y="5440680"/>
            <a:ext cx="12984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26864" y="5724144"/>
            <a:ext cx="91440" cy="0"/>
          </a:xfrm>
          <a:prstGeom prst="line">
            <a:avLst/>
          </a:prstGeom>
          <a:noFill/>
          <a:ln w="15240">
            <a:solidFill>
              <a:srgbClr val="5B6B79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4718304" y="5440680"/>
            <a:ext cx="1298448" cy="566928"/>
          </a:xfrm>
          <a:prstGeom prst="roundRect">
            <a:avLst>
              <a:gd name="adj" fmla="val 12903"/>
            </a:avLst>
          </a:prstGeom>
          <a:solidFill>
            <a:srgbClr val="EAF1F4"/>
          </a:solidFill>
          <a:ln/>
        </p:spPr>
      </p:sp>
      <p:sp>
        <p:nvSpPr>
          <p:cNvPr id="33" name="Text 31"/>
          <p:cNvSpPr/>
          <p:nvPr/>
        </p:nvSpPr>
        <p:spPr>
          <a:xfrm>
            <a:off x="4718304" y="5440680"/>
            <a:ext cx="12984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AWAITING_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COURIER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016752" y="5724144"/>
            <a:ext cx="91440" cy="0"/>
          </a:xfrm>
          <a:prstGeom prst="line">
            <a:avLst/>
          </a:prstGeom>
          <a:noFill/>
          <a:ln w="15240">
            <a:solidFill>
              <a:srgbClr val="5B6B79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6108192" y="5440680"/>
            <a:ext cx="1298448" cy="566928"/>
          </a:xfrm>
          <a:prstGeom prst="roundRect">
            <a:avLst>
              <a:gd name="adj" fmla="val 12903"/>
            </a:avLst>
          </a:prstGeom>
          <a:solidFill>
            <a:srgbClr val="065A82"/>
          </a:solidFill>
          <a:ln/>
        </p:spPr>
      </p:sp>
      <p:sp>
        <p:nvSpPr>
          <p:cNvPr id="36" name="Text 34"/>
          <p:cNvSpPr/>
          <p:nvPr/>
        </p:nvSpPr>
        <p:spPr>
          <a:xfrm>
            <a:off x="6108192" y="5440680"/>
            <a:ext cx="12984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406640" y="5724144"/>
            <a:ext cx="91440" cy="0"/>
          </a:xfrm>
          <a:prstGeom prst="line">
            <a:avLst/>
          </a:prstGeom>
          <a:noFill/>
          <a:ln w="15240">
            <a:solidFill>
              <a:srgbClr val="5B6B79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7498080" y="5440680"/>
            <a:ext cx="1298448" cy="566928"/>
          </a:xfrm>
          <a:prstGeom prst="roundRect">
            <a:avLst>
              <a:gd name="adj" fmla="val 12903"/>
            </a:avLst>
          </a:prstGeom>
          <a:solidFill>
            <a:srgbClr val="EAF1F4"/>
          </a:solidFill>
          <a:ln/>
        </p:spPr>
      </p:sp>
      <p:sp>
        <p:nvSpPr>
          <p:cNvPr id="39" name="Text 37"/>
          <p:cNvSpPr/>
          <p:nvPr/>
        </p:nvSpPr>
        <p:spPr>
          <a:xfrm>
            <a:off x="7498080" y="5440680"/>
            <a:ext cx="12984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IN_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796528" y="5724144"/>
            <a:ext cx="91440" cy="0"/>
          </a:xfrm>
          <a:prstGeom prst="line">
            <a:avLst/>
          </a:prstGeom>
          <a:noFill/>
          <a:ln w="15240">
            <a:solidFill>
              <a:srgbClr val="5B6B79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8887968" y="5440680"/>
            <a:ext cx="1298448" cy="566928"/>
          </a:xfrm>
          <a:prstGeom prst="roundRect">
            <a:avLst>
              <a:gd name="adj" fmla="val 12903"/>
            </a:avLst>
          </a:prstGeom>
          <a:solidFill>
            <a:srgbClr val="EAF1F4"/>
          </a:solidFill>
          <a:ln/>
        </p:spPr>
      </p:sp>
      <p:sp>
        <p:nvSpPr>
          <p:cNvPr id="42" name="Text 40"/>
          <p:cNvSpPr/>
          <p:nvPr/>
        </p:nvSpPr>
        <p:spPr>
          <a:xfrm>
            <a:off x="8887968" y="5440680"/>
            <a:ext cx="12984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IN_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10186416" y="5724144"/>
            <a:ext cx="91440" cy="0"/>
          </a:xfrm>
          <a:prstGeom prst="line">
            <a:avLst/>
          </a:prstGeom>
          <a:noFill/>
          <a:ln w="15240">
            <a:solidFill>
              <a:srgbClr val="5B6B79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10277856" y="5440680"/>
            <a:ext cx="1298448" cy="566928"/>
          </a:xfrm>
          <a:prstGeom prst="roundRect">
            <a:avLst>
              <a:gd name="adj" fmla="val 12903"/>
            </a:avLst>
          </a:prstGeom>
          <a:solidFill>
            <a:srgbClr val="EAF1F4"/>
          </a:solidFill>
          <a:ln/>
        </p:spPr>
      </p:sp>
      <p:sp>
        <p:nvSpPr>
          <p:cNvPr id="45" name="Text 43"/>
          <p:cNvSpPr/>
          <p:nvPr/>
        </p:nvSpPr>
        <p:spPr>
          <a:xfrm>
            <a:off x="10277856" y="5440680"/>
            <a:ext cx="12984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Microservices — Plateforme de Livraison de Repas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LA SAGA « PASSAGE DE COMMANDE »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SAGA — compensation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F4F7F9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544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: </a:t>
            </a:r>
            <a:pPr indent="0" marL="0">
              <a:buNone/>
            </a:pPr>
            <a:r>
              <a:rPr lang="en-US" sz="14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livreur disponible après paiement capturé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2011680" cy="411480"/>
          </a:xfrm>
          <a:prstGeom prst="roundRect">
            <a:avLst>
              <a:gd name="adj" fmla="val 15556"/>
            </a:avLst>
          </a:prstGeom>
          <a:solidFill>
            <a:srgbClr val="21295C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23317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delivery-service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371600" y="2743200"/>
            <a:ext cx="0" cy="1691640"/>
          </a:xfrm>
          <a:prstGeom prst="line">
            <a:avLst/>
          </a:prstGeom>
          <a:noFill/>
          <a:ln w="12700">
            <a:solidFill>
              <a:srgbClr val="C7D6DE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4937760" y="2331720"/>
            <a:ext cx="2011680" cy="411480"/>
          </a:xfrm>
          <a:prstGeom prst="roundRect">
            <a:avLst>
              <a:gd name="adj" fmla="val 15556"/>
            </a:avLst>
          </a:prstGeom>
          <a:solidFill>
            <a:srgbClr val="21295C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23317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order-service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943600" y="2743200"/>
            <a:ext cx="0" cy="1691640"/>
          </a:xfrm>
          <a:prstGeom prst="line">
            <a:avLst/>
          </a:prstGeom>
          <a:noFill/>
          <a:ln w="12700">
            <a:solidFill>
              <a:srgbClr val="C7D6DE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9509760" y="2331720"/>
            <a:ext cx="2011680" cy="411480"/>
          </a:xfrm>
          <a:prstGeom prst="roundRect">
            <a:avLst>
              <a:gd name="adj" fmla="val 15556"/>
            </a:avLst>
          </a:prstGeom>
          <a:solidFill>
            <a:srgbClr val="21295C"/>
          </a:solidFill>
          <a:ln/>
        </p:spPr>
      </p:sp>
      <p:sp>
        <p:nvSpPr>
          <p:cNvPr id="13" name="Text 11"/>
          <p:cNvSpPr/>
          <p:nvPr/>
        </p:nvSpPr>
        <p:spPr>
          <a:xfrm>
            <a:off x="9509760" y="23317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payment-service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10515600" y="2743200"/>
            <a:ext cx="0" cy="1691640"/>
          </a:xfrm>
          <a:prstGeom prst="line">
            <a:avLst/>
          </a:prstGeom>
          <a:noFill/>
          <a:ln w="12700">
            <a:solidFill>
              <a:srgbClr val="C7D6DE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1371600" y="2971800"/>
            <a:ext cx="4572000" cy="0"/>
          </a:xfrm>
          <a:prstGeom prst="line">
            <a:avLst/>
          </a:prstGeom>
          <a:noFill/>
          <a:ln w="25400">
            <a:solidFill>
              <a:srgbClr val="C0392B"/>
            </a:solidFill>
            <a:prstDash val="dash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1371600" y="26791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NoCourierAvailable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943600" y="3429000"/>
            <a:ext cx="4572000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5943600" y="31363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RefundPayment (compensation)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 flipH="1">
            <a:off x="5943600" y="3886200"/>
            <a:ext cx="457200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dash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5943600" y="35935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PaymentRefunded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846320" y="4526280"/>
            <a:ext cx="2194560" cy="365760"/>
          </a:xfrm>
          <a:prstGeom prst="roundRect">
            <a:avLst>
              <a:gd name="adj" fmla="val 15000"/>
            </a:avLst>
          </a:prstGeom>
          <a:solidFill>
            <a:srgbClr val="C0392B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45262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Order.status = CANCELLED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52578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4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compensation annule l'effet du paiement déjà capturé, sans transaction distribuée classique.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Microservices — Plateforme de Livraison de Repas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RÉSILIENCE : CIRCUIT BREAKER (POLLY)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Circuit Breaker (Polly)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 synchrone </a:t>
            </a:r>
            <a:pPr indent="0" marL="0">
              <a:buNone/>
            </a:pPr>
            <a:r>
              <a:rPr lang="en-US" sz="14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order-service → restaurant-service</a:t>
            </a:r>
            <a:pPr indent="0" marL="0">
              <a:buNone/>
            </a:pPr>
            <a:r>
              <a:rPr lang="en-US" sz="14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(validation avant commande) = seul point de couplage synchrone fort → risque de panne en cascade.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11064240" cy="640080"/>
          </a:xfrm>
          <a:prstGeom prst="roundRect">
            <a:avLst>
              <a:gd name="adj" fmla="val 14286"/>
            </a:avLst>
          </a:prstGeom>
          <a:solidFill>
            <a:srgbClr val="21295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3774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FA7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CircuitBreaker( Retry( Timeout( appel HTTP ) ) 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333756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F4F7F9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538728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31520" y="388620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2s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731520" y="470916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tentative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383280" y="333756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EAF1F4"/>
          </a:solidFill>
          <a:ln/>
        </p:spPr>
      </p:sp>
      <p:sp>
        <p:nvSpPr>
          <p:cNvPr id="12" name="Text 10"/>
          <p:cNvSpPr/>
          <p:nvPr/>
        </p:nvSpPr>
        <p:spPr>
          <a:xfrm>
            <a:off x="3566160" y="3538728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566160" y="388620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×3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3566160" y="470916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backoff exponentiel 200 / 400 / 800 ms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17920" y="333756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F4F7F9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3538728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00800" y="388620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échecs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6400800" y="470916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ouvre après 5 échecs consécutifs, 30s avant semi-ouverture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052560" y="333756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EAF1F4"/>
          </a:solidFill>
          <a:ln/>
        </p:spPr>
      </p:sp>
      <p:sp>
        <p:nvSpPr>
          <p:cNvPr id="20" name="Text 18"/>
          <p:cNvSpPr/>
          <p:nvPr/>
        </p:nvSpPr>
        <p:spPr>
          <a:xfrm>
            <a:off x="9235440" y="3538728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235440" y="388620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503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9235440" y="470916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immédiat au lieu de laisser la requête s'éterniser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Microservices — Plateforme de Livraison de Repas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RÉSILIENCE : CIRCUIT BREAKER (POLLY)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Pourquoi cet ordre de policies 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12080" cy="2743200"/>
          </a:xfrm>
          <a:prstGeom prst="roundRect">
            <a:avLst>
              <a:gd name="adj" fmla="val 3333"/>
            </a:avLst>
          </a:prstGeom>
          <a:solidFill>
            <a:srgbClr val="F4F7F9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47672"/>
            <a:ext cx="3200400" cy="384048"/>
          </a:xfrm>
          <a:prstGeom prst="roundRect">
            <a:avLst>
              <a:gd name="adj" fmla="val 14286"/>
            </a:avLst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4767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au-dessus du Breaker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4663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retry re-déclenche le check du disjoncteur → risque de « retry storm » sur un service déjà en difficulté.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0" y="1691640"/>
            <a:ext cx="5212080" cy="2743200"/>
          </a:xfrm>
          <a:prstGeom prst="roundRect">
            <a:avLst>
              <a:gd name="adj" fmla="val 3333"/>
            </a:avLst>
          </a:prstGeom>
          <a:solidFill>
            <a:srgbClr val="EAF1F4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0" y="1947672"/>
            <a:ext cx="3566160" cy="384048"/>
          </a:xfrm>
          <a:prstGeom prst="roundRect">
            <a:avLst>
              <a:gd name="adj" fmla="val 14286"/>
            </a:avLst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1947672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 au-dessus ✓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675120" y="2560320"/>
            <a:ext cx="4663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ne voit qu'un seul résultat par appel logique (déjà retryé) → protège vraiment restaurant-service pendant sa récupération.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47548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Voir ADR-0004 et diagramme de séquence architecture.md §12.4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Microservices — Plateforme de Livraison de Repas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CQRS SUR LE CATALOGUE (BONUS)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CQRS sur le Catalogue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4206240" cy="137160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74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F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CÔTÉ COMMANDE (WRITE)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restaurant-service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57860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reste l'unique source de vérité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892040" y="2423160"/>
            <a:ext cx="1737360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4892040" y="19659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restaurant.events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766560" y="1737360"/>
            <a:ext cx="4846320" cy="137160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0" y="187452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4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CÔTÉ REQUÊTE (READ)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040880" y="219456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catalog-service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040880" y="2578608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 dénormalisée, alimentée exclusivement par les événements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593592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5204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écriture directe exposée côté catalogue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4096512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0233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Rejouable : reconstruction complète possible en rejouant le topic depuis offset=earliest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48640" y="4709160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86460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 ASSUMÉ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5138928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Cohérence éventuelle (délai de propagation ~ quelques centaines de ms), acceptable car non-financier.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Microservices — Plateforme de Livraison de Repas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INFRASTRUCTURE &amp; DÉMONSTRATION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Gateway (Ocelot)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108960" cy="3474720"/>
          </a:xfrm>
          <a:prstGeom prst="roundRect">
            <a:avLst>
              <a:gd name="adj" fmla="val 2941"/>
            </a:avLst>
          </a:prstGeom>
          <a:solidFill>
            <a:srgbClr val="21295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0116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externes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417320" y="2514600"/>
            <a:ext cx="1371600" cy="13716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1417320" y="25146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Gateway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41148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F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Ocelot — port exposé sur l'hôte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45720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A7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localhost:8080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0" y="3566160"/>
            <a:ext cx="822960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663440" y="1828800"/>
            <a:ext cx="2194560" cy="1554480"/>
          </a:xfrm>
          <a:prstGeom prst="roundRect">
            <a:avLst>
              <a:gd name="adj" fmla="val 4706"/>
            </a:avLst>
          </a:prstGeom>
          <a:solidFill>
            <a:srgbClr val="EAF1F4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1828800"/>
            <a:ext cx="21945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restaurant-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086600" y="1828800"/>
            <a:ext cx="2194560" cy="1554480"/>
          </a:xfrm>
          <a:prstGeom prst="roundRect">
            <a:avLst>
              <a:gd name="adj" fmla="val 4706"/>
            </a:avLst>
          </a:prstGeom>
          <a:solidFill>
            <a:srgbClr val="EAF1F4"/>
          </a:solidFill>
          <a:ln/>
        </p:spPr>
      </p:sp>
      <p:sp>
        <p:nvSpPr>
          <p:cNvPr id="14" name="Text 12"/>
          <p:cNvSpPr/>
          <p:nvPr/>
        </p:nvSpPr>
        <p:spPr>
          <a:xfrm>
            <a:off x="7086600" y="1828800"/>
            <a:ext cx="21945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catalog-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509760" y="1828800"/>
            <a:ext cx="2194560" cy="1554480"/>
          </a:xfrm>
          <a:prstGeom prst="roundRect">
            <a:avLst>
              <a:gd name="adj" fmla="val 4706"/>
            </a:avLst>
          </a:prstGeom>
          <a:solidFill>
            <a:srgbClr val="EAF1F4"/>
          </a:solidFill>
          <a:ln/>
        </p:spPr>
      </p:sp>
      <p:sp>
        <p:nvSpPr>
          <p:cNvPr id="16" name="Text 14"/>
          <p:cNvSpPr/>
          <p:nvPr/>
        </p:nvSpPr>
        <p:spPr>
          <a:xfrm>
            <a:off x="9509760" y="1828800"/>
            <a:ext cx="21945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order-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3611880"/>
            <a:ext cx="2194560" cy="1554480"/>
          </a:xfrm>
          <a:prstGeom prst="roundRect">
            <a:avLst>
              <a:gd name="adj" fmla="val 4706"/>
            </a:avLst>
          </a:prstGeom>
          <a:solidFill>
            <a:srgbClr val="EAF1F4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0" y="3611880"/>
            <a:ext cx="21945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payment-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086600" y="3611880"/>
            <a:ext cx="2194560" cy="1554480"/>
          </a:xfrm>
          <a:prstGeom prst="roundRect">
            <a:avLst>
              <a:gd name="adj" fmla="val 4706"/>
            </a:avLst>
          </a:prstGeom>
          <a:solidFill>
            <a:srgbClr val="EAF1F4"/>
          </a:solidFill>
          <a:ln/>
        </p:spPr>
      </p:sp>
      <p:sp>
        <p:nvSpPr>
          <p:cNvPr id="20" name="Text 18"/>
          <p:cNvSpPr/>
          <p:nvPr/>
        </p:nvSpPr>
        <p:spPr>
          <a:xfrm>
            <a:off x="7086600" y="3611880"/>
            <a:ext cx="21945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delivery-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509760" y="3611880"/>
            <a:ext cx="2194560" cy="1554480"/>
          </a:xfrm>
          <a:prstGeom prst="roundRect">
            <a:avLst>
              <a:gd name="adj" fmla="val 4706"/>
            </a:avLst>
          </a:prstGeom>
          <a:solidFill>
            <a:srgbClr val="EAF1F4"/>
          </a:solidFill>
          <a:ln/>
        </p:spPr>
      </p:sp>
      <p:sp>
        <p:nvSpPr>
          <p:cNvPr id="22" name="Text 20"/>
          <p:cNvSpPr/>
          <p:nvPr/>
        </p:nvSpPr>
        <p:spPr>
          <a:xfrm>
            <a:off x="9509760" y="3611880"/>
            <a:ext cx="21945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notification-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663440" y="5440680"/>
            <a:ext cx="7040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Docker interne — non exposés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596128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55321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d'entrée unique pour les clients externes — masque la topologie interne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5961888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58978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Emplacement naturel pour les préoccupations transverses (auth, rate limiting — non implémentées dans le prototype)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Microservices — Plateforme de Livraison de Repas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INFRASTRUCTURE &amp; DÉMONSTRATION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 — ce qui est implémenté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microservices + API Gateway</a:t>
            </a:r>
            <a:pPr indent="0" marL="0">
              <a:buNone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C#/.NET 8, API mockées (stockage en mémoire), démontrant explicitement 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F4F7F9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60604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606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310896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SAGA en orchestration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77240" y="35204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path + compensation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89120" y="237744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F4F7F9"/>
          </a:solidFill>
          <a:ln/>
        </p:spPr>
      </p:sp>
      <p:sp>
        <p:nvSpPr>
          <p:cNvPr id="11" name="Shape 9"/>
          <p:cNvSpPr/>
          <p:nvPr/>
        </p:nvSpPr>
        <p:spPr>
          <a:xfrm>
            <a:off x="4617720" y="260604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2606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17720" y="310896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Circuit Breaker (Polly)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617720" y="35204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l'appel synchrone critique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29600" y="237744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F4F7F9"/>
          </a:solidFill>
          <a:ln/>
        </p:spPr>
      </p:sp>
      <p:sp>
        <p:nvSpPr>
          <p:cNvPr id="16" name="Shape 14"/>
          <p:cNvSpPr/>
          <p:nvPr/>
        </p:nvSpPr>
        <p:spPr>
          <a:xfrm>
            <a:off x="8458200" y="260604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8458200" y="2606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58200" y="310896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CQRS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458200" y="35204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restaurant-service / read catalog-service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343400"/>
            <a:ext cx="11064240" cy="594360"/>
          </a:xfrm>
          <a:prstGeom prst="roundRect">
            <a:avLst>
              <a:gd name="adj" fmla="val 12308"/>
            </a:avLst>
          </a:prstGeom>
          <a:solidFill>
            <a:srgbClr val="21295C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34340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A7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docker compose up --build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48640" y="51663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(KRaft)</a:t>
            </a:r>
            <a:pPr indent="0" marL="0">
              <a:buNone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Kafka UI (localhost:8090) + </a:t>
            </a:r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services</a:t>
            </a:r>
            <a:pPr indent="0" marL="0">
              <a:buNone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Gateway (localhost:8080)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Microservices — Plateforme de Livraison de Repas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INFRASTRUCTURE &amp; DÉMONSTRATION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Démonstration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F4F7F9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2880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288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00200" y="1746504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Happy path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434840" y="1746504"/>
            <a:ext cx="6995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/v1/orders → suivi via GET /v1/orders/{id}/status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EAF1F4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288036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8803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600200" y="2798064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Compensation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434840" y="2798064"/>
            <a:ext cx="6995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/v1/_chaos/force-no-courier sur delivery-service → nouvelle commande → remboursement automatique observable dans Kafka UI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F4F7F9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393192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9319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600200" y="3849624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Circuit Breaker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4434840" y="3849624"/>
            <a:ext cx="6995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/v1/_chaos/enable sur restaurant-service → plusieurs commandes → logs order-service montrant l'ouverture du circuit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846320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EAF1F4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498348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9834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600200" y="4901184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CQRS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4434840" y="4901184"/>
            <a:ext cx="6995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Ajout d'un plat sur restaurant-service → apparition différée dans catalog-service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Microservices — Plateforme de Livraison de Repas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INFRASTRUCTURE &amp; DÉMONSTRATION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 assumées du prototype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2651760"/>
          </a:xfrm>
          <a:prstGeom prst="roundRect">
            <a:avLst>
              <a:gd name="adj" fmla="val 3448"/>
            </a:avLst>
          </a:prstGeom>
          <a:solidFill>
            <a:srgbClr val="F4F7F9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993392"/>
            <a:ext cx="457200" cy="73152"/>
          </a:xfrm>
          <a:prstGeom prst="round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194560"/>
            <a:ext cx="3008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Stockage en mémoire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04672" y="2743200"/>
            <a:ext cx="3008376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persistance réelle — permis par l'énoncé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89120" y="1737360"/>
            <a:ext cx="3520440" cy="2651760"/>
          </a:xfrm>
          <a:prstGeom prst="roundRect">
            <a:avLst>
              <a:gd name="adj" fmla="val 3448"/>
            </a:avLst>
          </a:prstGeom>
          <a:solidFill>
            <a:srgbClr val="F4F7F9"/>
          </a:solidFill>
          <a:ln/>
        </p:spPr>
      </p:sp>
      <p:sp>
        <p:nvSpPr>
          <p:cNvPr id="9" name="Shape 7"/>
          <p:cNvSpPr/>
          <p:nvPr/>
        </p:nvSpPr>
        <p:spPr>
          <a:xfrm>
            <a:off x="4645152" y="1993392"/>
            <a:ext cx="457200" cy="73152"/>
          </a:xfrm>
          <a:prstGeom prst="round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4645152" y="2194560"/>
            <a:ext cx="3008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services non codés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645152" y="2743200"/>
            <a:ext cx="3008376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customer-service et review-service conçus mais non codés (n'apportent pas de pattern supplémentaire par rapport aux 6 services retenus)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0" y="1737360"/>
            <a:ext cx="3520440" cy="2651760"/>
          </a:xfrm>
          <a:prstGeom prst="roundRect">
            <a:avLst>
              <a:gd name="adj" fmla="val 3448"/>
            </a:avLst>
          </a:prstGeom>
          <a:solidFill>
            <a:srgbClr val="F4F7F9"/>
          </a:solidFill>
          <a:ln/>
        </p:spPr>
      </p:sp>
      <p:sp>
        <p:nvSpPr>
          <p:cNvPr id="13" name="Shape 11"/>
          <p:cNvSpPr/>
          <p:nvPr/>
        </p:nvSpPr>
        <p:spPr>
          <a:xfrm>
            <a:off x="8485632" y="1993392"/>
            <a:ext cx="457200" cy="73152"/>
          </a:xfrm>
          <a:prstGeom prst="roundRect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8485632" y="2194560"/>
            <a:ext cx="3008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 de production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485632" y="2743200"/>
            <a:ext cx="3008376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d'authentification, pas de paiement réel, pas d'UI graphique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4800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Détails complets, ADRs et contrats OpenAPI : voir docs/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Microservices — Plateforme de Livraison de Repas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097280"/>
            <a:ext cx="3931920" cy="393192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4389120"/>
            <a:ext cx="3474720" cy="3474720"/>
          </a:xfrm>
          <a:prstGeom prst="ellipse">
            <a:avLst/>
          </a:prstGeom>
          <a:solidFill>
            <a:srgbClr val="1C7293">
              <a:alpha val="5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28600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?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37490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F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651760" y="3749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7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docs/architecture.md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2519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F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651760" y="4251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7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47548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F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651760" y="4754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7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 --build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Microservices — Plateforme de Livraison de Repas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2026-07-28T12:42:17Z</dcterms:created>
  <dcterms:modified xsi:type="dcterms:W3CDTF">2026-07-28T12:42:17Z</dcterms:modified>
</cp:coreProperties>
</file>